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embeddedFontLst>
    <p:embeddedFont>
      <p:font typeface="Play" panose="020B0604020202020204" charset="0"/>
      <p:regular r:id="rId12"/>
      <p:bold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5" roundtripDataSignature="AMtx7mgtFBKO4yusRtyX25OpxhSyr132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2256064" y="1138692"/>
            <a:ext cx="7679871" cy="1457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en-US" dirty="0"/>
              <a:t>Zomato Project</a:t>
            </a:r>
            <a:endParaRPr dirty="0"/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702129" y="3429000"/>
            <a:ext cx="9965871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>
              <a:spcBef>
                <a:spcPts val="0"/>
              </a:spcBef>
            </a:pPr>
            <a:r>
              <a:rPr lang="en-IN" dirty="0"/>
              <a:t>Exploratory Data Analysis (EDA) Using Python</a:t>
            </a:r>
          </a:p>
          <a:p>
            <a:pPr algn="l"/>
            <a:r>
              <a:rPr lang="en-IN" b="1" dirty="0"/>
              <a:t>           Presented by</a:t>
            </a:r>
            <a:endParaRPr lang="en-IN" dirty="0"/>
          </a:p>
          <a:p>
            <a:pPr algn="l"/>
            <a:r>
              <a:rPr lang="en-IN" dirty="0"/>
              <a:t>                        Komala </a:t>
            </a:r>
          </a:p>
          <a:p>
            <a:pPr algn="l"/>
            <a:r>
              <a:rPr lang="en-IN" dirty="0"/>
              <a:t>                                    </a:t>
            </a:r>
            <a:r>
              <a:rPr lang="en-IN" dirty="0" err="1"/>
              <a:t>B.Tech</a:t>
            </a:r>
            <a:r>
              <a:rPr lang="en-IN" dirty="0"/>
              <a:t> Computer Science &amp; Engineering</a:t>
            </a:r>
          </a:p>
          <a:p>
            <a:pPr marL="0" lvl="0" indent="0">
              <a:spcBef>
                <a:spcPts val="0"/>
              </a:spcBef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title"/>
          </p:nvPr>
        </p:nvSpPr>
        <p:spPr>
          <a:xfrm>
            <a:off x="489858" y="365126"/>
            <a:ext cx="10863942" cy="679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>
              <a:buSzPts val="4400"/>
            </a:pPr>
            <a:r>
              <a:rPr lang="en-IN" dirty="0"/>
              <a:t>Project Overview</a:t>
            </a:r>
            <a:endParaRPr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603253-1510-081F-3BCE-D78106627F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9858" y="1240971"/>
            <a:ext cx="10863942" cy="4935992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/>
              <a:t>Objective</a:t>
            </a:r>
            <a:endParaRPr lang="en-IN" dirty="0"/>
          </a:p>
          <a:p>
            <a:r>
              <a:rPr lang="en-IN" dirty="0" err="1"/>
              <a:t>Analyze</a:t>
            </a:r>
            <a:r>
              <a:rPr lang="en-IN" dirty="0"/>
              <a:t> the Zomato restaurant dataset. </a:t>
            </a:r>
          </a:p>
          <a:p>
            <a:r>
              <a:rPr lang="en-IN" dirty="0"/>
              <a:t>Understand restaurant pricing, cuisines, timings, customer ratings, and reviews. </a:t>
            </a:r>
          </a:p>
          <a:p>
            <a:r>
              <a:rPr lang="en-IN" dirty="0"/>
              <a:t>Generate business insights using Python. </a:t>
            </a:r>
          </a:p>
          <a:p>
            <a:r>
              <a:rPr lang="en-IN" b="1" dirty="0"/>
              <a:t>Tools Used</a:t>
            </a:r>
            <a:endParaRPr lang="en-IN" dirty="0"/>
          </a:p>
          <a:p>
            <a:r>
              <a:rPr lang="en-IN" dirty="0"/>
              <a:t>Python </a:t>
            </a:r>
          </a:p>
          <a:p>
            <a:r>
              <a:rPr lang="en-IN" dirty="0"/>
              <a:t>Pandas </a:t>
            </a:r>
          </a:p>
          <a:p>
            <a:r>
              <a:rPr lang="en-IN" dirty="0"/>
              <a:t>NumPy </a:t>
            </a:r>
          </a:p>
          <a:p>
            <a:r>
              <a:rPr lang="en-IN" dirty="0"/>
              <a:t>Matplotlib </a:t>
            </a:r>
          </a:p>
          <a:p>
            <a:r>
              <a:rPr lang="en-IN" dirty="0"/>
              <a:t>Jupyter Notebook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>
            <a:spLocks noGrp="1"/>
          </p:cNvSpPr>
          <p:nvPr>
            <p:ph type="title"/>
          </p:nvPr>
        </p:nvSpPr>
        <p:spPr>
          <a:xfrm>
            <a:off x="653142" y="702128"/>
            <a:ext cx="10700657" cy="473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r>
              <a:rPr lang="en-IN" b="1" dirty="0"/>
              <a:t>Dataset Information</a:t>
            </a:r>
            <a:br>
              <a:rPr lang="en-IN" b="1" dirty="0"/>
            </a:br>
            <a:br>
              <a:rPr lang="en-IN" b="1" dirty="0"/>
            </a:br>
            <a:endParaRPr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D10DCC-AE91-769B-9DC2-A840901FC9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3142" y="938892"/>
            <a:ext cx="10515600" cy="5070022"/>
          </a:xfrm>
        </p:spPr>
        <p:txBody>
          <a:bodyPr>
            <a:normAutofit fontScale="77500" lnSpcReduction="20000"/>
          </a:bodyPr>
          <a:lstStyle/>
          <a:p>
            <a:r>
              <a:rPr lang="en-IN" b="1" dirty="0"/>
              <a:t>Dataset Details</a:t>
            </a:r>
          </a:p>
          <a:p>
            <a:r>
              <a:rPr lang="en-IN" b="1" dirty="0"/>
              <a:t>Dataset 1: Restaurant Metadata</a:t>
            </a:r>
            <a:endParaRPr lang="en-IN" dirty="0"/>
          </a:p>
          <a:p>
            <a:r>
              <a:rPr lang="en-IN" dirty="0"/>
              <a:t>Restaurant Name </a:t>
            </a:r>
          </a:p>
          <a:p>
            <a:r>
              <a:rPr lang="en-IN" dirty="0"/>
              <a:t>Cost </a:t>
            </a:r>
          </a:p>
          <a:p>
            <a:r>
              <a:rPr lang="en-IN" dirty="0"/>
              <a:t>Cuisines </a:t>
            </a:r>
          </a:p>
          <a:p>
            <a:r>
              <a:rPr lang="en-IN" dirty="0"/>
              <a:t>Timings </a:t>
            </a:r>
          </a:p>
          <a:p>
            <a:r>
              <a:rPr lang="en-IN" dirty="0"/>
              <a:t>Collections </a:t>
            </a:r>
          </a:p>
          <a:p>
            <a:r>
              <a:rPr lang="en-IN" b="1" dirty="0"/>
              <a:t>Dataset 2: Restaurant Reviews</a:t>
            </a:r>
            <a:endParaRPr lang="en-IN" dirty="0"/>
          </a:p>
          <a:p>
            <a:r>
              <a:rPr lang="en-IN" dirty="0"/>
              <a:t>Reviewer </a:t>
            </a:r>
          </a:p>
          <a:p>
            <a:r>
              <a:rPr lang="en-IN" dirty="0"/>
              <a:t>Review </a:t>
            </a:r>
          </a:p>
          <a:p>
            <a:r>
              <a:rPr lang="en-IN" dirty="0"/>
              <a:t>Rating </a:t>
            </a:r>
          </a:p>
          <a:p>
            <a:r>
              <a:rPr lang="en-IN" dirty="0"/>
              <a:t>Time </a:t>
            </a:r>
          </a:p>
          <a:p>
            <a:r>
              <a:rPr lang="en-IN" dirty="0"/>
              <a:t>Pictures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>
            <a:spLocks noGrp="1"/>
          </p:cNvSpPr>
          <p:nvPr>
            <p:ph type="title"/>
          </p:nvPr>
        </p:nvSpPr>
        <p:spPr>
          <a:xfrm>
            <a:off x="718457" y="365126"/>
            <a:ext cx="10635343" cy="679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>
              <a:buSzPts val="4400"/>
            </a:pPr>
            <a:r>
              <a:rPr lang="en-IN" dirty="0"/>
              <a:t>Data Cleaning</a:t>
            </a:r>
            <a:endParaRPr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C67DF4-DC15-0E51-8C67-768545404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457" y="1175657"/>
            <a:ext cx="10635343" cy="5001306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/>
              <a:t>Data Cleaning Process</a:t>
            </a:r>
            <a:endParaRPr lang="en-IN" dirty="0"/>
          </a:p>
          <a:p>
            <a:r>
              <a:rPr lang="en-IN" dirty="0"/>
              <a:t>Checked the dataset dimensions using shape(). </a:t>
            </a:r>
          </a:p>
          <a:p>
            <a:r>
              <a:rPr lang="en-IN" dirty="0"/>
              <a:t>Examined data types using info(). </a:t>
            </a:r>
          </a:p>
          <a:p>
            <a:r>
              <a:rPr lang="en-IN" dirty="0"/>
              <a:t>Generated statistical summaries using describe(). </a:t>
            </a:r>
          </a:p>
          <a:p>
            <a:r>
              <a:rPr lang="en-IN" dirty="0"/>
              <a:t>Identified missing values using </a:t>
            </a:r>
            <a:r>
              <a:rPr lang="en-IN" dirty="0" err="1"/>
              <a:t>isnull</a:t>
            </a:r>
            <a:r>
              <a:rPr lang="en-IN" dirty="0"/>
              <a:t>().sum(). </a:t>
            </a:r>
          </a:p>
          <a:p>
            <a:r>
              <a:rPr lang="en-IN" dirty="0"/>
              <a:t>Removed duplicate records using </a:t>
            </a:r>
            <a:r>
              <a:rPr lang="en-IN" dirty="0" err="1"/>
              <a:t>drop_duplicates</a:t>
            </a:r>
            <a:r>
              <a:rPr lang="en-IN" dirty="0"/>
              <a:t>(). </a:t>
            </a:r>
          </a:p>
          <a:p>
            <a:r>
              <a:rPr lang="en-IN" dirty="0"/>
              <a:t>Verified the cleaned dataset before analysis. </a:t>
            </a:r>
          </a:p>
          <a:p>
            <a:r>
              <a:rPr lang="en-IN" b="1" dirty="0"/>
              <a:t>Why Data Cleaning?</a:t>
            </a:r>
          </a:p>
          <a:p>
            <a:r>
              <a:rPr lang="en-IN" dirty="0"/>
              <a:t>Improves data quality. </a:t>
            </a:r>
          </a:p>
          <a:p>
            <a:r>
              <a:rPr lang="en-IN" dirty="0"/>
              <a:t>Removes duplicate records. </a:t>
            </a:r>
          </a:p>
          <a:p>
            <a:r>
              <a:rPr lang="en-IN" dirty="0"/>
              <a:t>Ensures accurate analysis and visualization.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>
            <a:spLocks noGrp="1"/>
          </p:cNvSpPr>
          <p:nvPr>
            <p:ph type="title"/>
          </p:nvPr>
        </p:nvSpPr>
        <p:spPr>
          <a:xfrm>
            <a:off x="408214" y="365126"/>
            <a:ext cx="10945586" cy="4349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>
              <a:buSzPts val="4400"/>
            </a:pPr>
            <a:r>
              <a:rPr lang="en-IN" dirty="0"/>
              <a:t>Restaurant Cost Analysis</a:t>
            </a:r>
            <a:endParaRPr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21C860-4868-6194-D286-B6AAA0751C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8214" y="979714"/>
            <a:ext cx="5878286" cy="4882243"/>
          </a:xfrm>
        </p:spPr>
        <p:txBody>
          <a:bodyPr>
            <a:normAutofit/>
          </a:bodyPr>
          <a:lstStyle/>
          <a:p>
            <a:r>
              <a:rPr lang="en-IN" sz="2000" b="1" dirty="0"/>
              <a:t>Key Findings</a:t>
            </a:r>
          </a:p>
          <a:p>
            <a:r>
              <a:rPr lang="en-IN" sz="2000" dirty="0"/>
              <a:t>Most restaurant costs range between </a:t>
            </a:r>
            <a:r>
              <a:rPr lang="en-IN" sz="2000" b="1" dirty="0"/>
              <a:t>₹300 and ₹800</a:t>
            </a:r>
            <a:r>
              <a:rPr lang="en-IN" sz="2000" dirty="0"/>
              <a:t>. </a:t>
            </a:r>
          </a:p>
          <a:p>
            <a:r>
              <a:rPr lang="en-IN" sz="2000" dirty="0"/>
              <a:t>The number of restaurants decreases as the cost increases. </a:t>
            </a:r>
          </a:p>
          <a:p>
            <a:r>
              <a:rPr lang="en-IN" sz="2000" dirty="0"/>
              <a:t>Only a few restaurants cost more than </a:t>
            </a:r>
            <a:r>
              <a:rPr lang="en-IN" sz="2000" b="1" dirty="0"/>
              <a:t>₹2000</a:t>
            </a:r>
            <a:r>
              <a:rPr lang="en-IN" sz="2000" dirty="0"/>
              <a:t>. </a:t>
            </a:r>
          </a:p>
          <a:p>
            <a:r>
              <a:rPr lang="en-IN" sz="2000" dirty="0"/>
              <a:t>The dataset mainly consists of affordable and moderately priced restaurants. </a:t>
            </a:r>
          </a:p>
          <a:p>
            <a:r>
              <a:rPr lang="en-IN" sz="2000" b="1" dirty="0"/>
              <a:t>Observation</a:t>
            </a:r>
          </a:p>
          <a:p>
            <a:r>
              <a:rPr lang="en-IN" sz="2000" dirty="0"/>
              <a:t>Most restaurants are affordable or moderately priced, while premium restaurants are relatively few.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CB570F-DC4A-F6C1-BDF8-23AE24D5C7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078" y="979714"/>
            <a:ext cx="5169708" cy="45491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>
            <a:spLocks noGrp="1"/>
          </p:cNvSpPr>
          <p:nvPr>
            <p:ph type="title"/>
          </p:nvPr>
        </p:nvSpPr>
        <p:spPr>
          <a:xfrm>
            <a:off x="377700" y="365126"/>
            <a:ext cx="10976100" cy="288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>
              <a:buSzPts val="4400"/>
            </a:pPr>
            <a:r>
              <a:rPr lang="en-IN" dirty="0"/>
              <a:t>Cuisine &amp; Timings Analysis</a:t>
            </a:r>
            <a:endParaRPr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373F4D-8599-A29A-1D69-B13F92FED2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7700" y="979714"/>
            <a:ext cx="6170057" cy="5176157"/>
          </a:xfrm>
        </p:spPr>
        <p:txBody>
          <a:bodyPr/>
          <a:lstStyle/>
          <a:p>
            <a:r>
              <a:rPr lang="en-IN" b="1"/>
              <a:t>Observation</a:t>
            </a:r>
            <a:endParaRPr lang="en-IN"/>
          </a:p>
          <a:p>
            <a:r>
              <a:rPr lang="en-IN"/>
              <a:t>North Indian and Chinese cuisine is the most common. </a:t>
            </a:r>
          </a:p>
          <a:p>
            <a:r>
              <a:rPr lang="en-IN"/>
              <a:t>North Indian cuisine is also highly popular.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116E7A-AF62-B5DA-4311-ADD88AB52D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0656" y="1143000"/>
            <a:ext cx="4740069" cy="499924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>
            <a:spLocks noGrp="1"/>
          </p:cNvSpPr>
          <p:nvPr>
            <p:ph type="title"/>
          </p:nvPr>
        </p:nvSpPr>
        <p:spPr>
          <a:xfrm>
            <a:off x="625075" y="365126"/>
            <a:ext cx="10728725" cy="516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>
              <a:buSzPts val="4400"/>
            </a:pPr>
            <a:r>
              <a:rPr lang="en-IN" dirty="0"/>
              <a:t>Customer Ratings &amp; Review Length Analysis</a:t>
            </a:r>
            <a:endParaRPr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137192-10F5-B355-C299-D764EDED2F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94014"/>
            <a:ext cx="4925786" cy="5398859"/>
          </a:xfrm>
        </p:spPr>
        <p:txBody>
          <a:bodyPr/>
          <a:lstStyle/>
          <a:p>
            <a:r>
              <a:rPr lang="en-IN" b="1" dirty="0"/>
              <a:t>Key Findings</a:t>
            </a:r>
          </a:p>
          <a:p>
            <a:r>
              <a:rPr lang="en-IN" dirty="0"/>
              <a:t>Most customers gave </a:t>
            </a:r>
            <a:r>
              <a:rPr lang="en-IN" b="1" dirty="0"/>
              <a:t>5-star ratings</a:t>
            </a:r>
            <a:r>
              <a:rPr lang="en-IN" dirty="0"/>
              <a:t>. </a:t>
            </a:r>
          </a:p>
          <a:p>
            <a:r>
              <a:rPr lang="en-IN" b="1" dirty="0"/>
              <a:t>4-star ratings</a:t>
            </a:r>
            <a:r>
              <a:rPr lang="en-IN" dirty="0"/>
              <a:t> are the second most common. </a:t>
            </a:r>
          </a:p>
          <a:p>
            <a:r>
              <a:rPr lang="en-IN" dirty="0"/>
              <a:t>Very few customers gave </a:t>
            </a:r>
            <a:r>
              <a:rPr lang="en-IN" b="1" dirty="0"/>
              <a:t>1-star or 2-star ratings</a:t>
            </a:r>
            <a:r>
              <a:rPr lang="en-IN" dirty="0"/>
              <a:t>. </a:t>
            </a:r>
          </a:p>
          <a:p>
            <a:r>
              <a:rPr lang="en-IN" dirty="0"/>
              <a:t>This indicates a high level of customer satisfaction.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B4DC22-F56B-F7E7-832E-48A06078BC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784" y="1673112"/>
            <a:ext cx="5829016" cy="35117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 txBox="1">
            <a:spLocks noGrp="1"/>
          </p:cNvSpPr>
          <p:nvPr>
            <p:ph type="title"/>
          </p:nvPr>
        </p:nvSpPr>
        <p:spPr>
          <a:xfrm>
            <a:off x="881742" y="114850"/>
            <a:ext cx="10472057" cy="815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IN" dirty="0"/>
              <a:t>Conclusion</a:t>
            </a:r>
            <a:endParaRPr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BD3CA6-4AD3-55B5-20E1-938B84B2FA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3529" y="930729"/>
            <a:ext cx="10880271" cy="5453742"/>
          </a:xfrm>
        </p:spPr>
        <p:txBody>
          <a:bodyPr/>
          <a:lstStyle/>
          <a:p>
            <a:r>
              <a:rPr lang="en-IN" b="1" dirty="0"/>
              <a:t>Conclusion</a:t>
            </a:r>
          </a:p>
          <a:p>
            <a:r>
              <a:rPr lang="en-IN" dirty="0"/>
              <a:t>Successfully </a:t>
            </a:r>
            <a:r>
              <a:rPr lang="en-IN" dirty="0" err="1"/>
              <a:t>analyzed</a:t>
            </a:r>
            <a:r>
              <a:rPr lang="en-IN" dirty="0"/>
              <a:t> the Zomato restaurant dataset using Python. </a:t>
            </a:r>
          </a:p>
          <a:p>
            <a:r>
              <a:rPr lang="en-IN" dirty="0"/>
              <a:t>Cleaned the data by removing duplicates and checking missing values. </a:t>
            </a:r>
          </a:p>
          <a:p>
            <a:r>
              <a:rPr lang="en-IN" dirty="0"/>
              <a:t>Most restaurants are affordable and moderately priced. </a:t>
            </a:r>
          </a:p>
          <a:p>
            <a:r>
              <a:rPr lang="en-IN" dirty="0"/>
              <a:t>North Indian and Chinese cuisines are the most popular. </a:t>
            </a:r>
          </a:p>
          <a:p>
            <a:r>
              <a:rPr lang="en-IN" dirty="0"/>
              <a:t>Most restaurants operate from </a:t>
            </a:r>
            <a:r>
              <a:rPr lang="en-IN" b="1" dirty="0"/>
              <a:t>11 AM to 11 PM</a:t>
            </a:r>
            <a:r>
              <a:rPr lang="en-IN" dirty="0"/>
              <a:t>. </a:t>
            </a:r>
          </a:p>
          <a:p>
            <a:r>
              <a:rPr lang="en-IN" dirty="0"/>
              <a:t>Customer ratings are generally high, with most reviews receiving </a:t>
            </a:r>
            <a:r>
              <a:rPr lang="en-IN" b="1" dirty="0"/>
              <a:t>4 or 5 stars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F52DE-418C-1A3A-C51C-854607D40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457" y="365126"/>
            <a:ext cx="10635343" cy="745218"/>
          </a:xfrm>
        </p:spPr>
        <p:txBody>
          <a:bodyPr/>
          <a:lstStyle/>
          <a:p>
            <a:r>
              <a:rPr lang="en-IN" dirty="0"/>
              <a:t>Future Scope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0FA8AE-AF3C-833E-D4B6-387B0EAC73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457" y="1110344"/>
            <a:ext cx="10635343" cy="5066619"/>
          </a:xfrm>
        </p:spPr>
        <p:txBody>
          <a:bodyPr/>
          <a:lstStyle/>
          <a:p>
            <a:r>
              <a:rPr lang="en-IN" b="1"/>
              <a:t>Future Scope</a:t>
            </a:r>
          </a:p>
          <a:p>
            <a:r>
              <a:rPr lang="en-IN"/>
              <a:t>Perform sentiment analysis on customer reviews. </a:t>
            </a:r>
          </a:p>
          <a:p>
            <a:r>
              <a:rPr lang="en-IN"/>
              <a:t>Build a restaurant recommendation system. </a:t>
            </a:r>
          </a:p>
          <a:p>
            <a:r>
              <a:rPr lang="en-IN"/>
              <a:t>Predict restaurant ratings using machine learning. </a:t>
            </a:r>
          </a:p>
          <a:p>
            <a:r>
              <a:rPr lang="en-IN"/>
              <a:t>Create an interactive dashboard using Power BI or Tableau.</a:t>
            </a:r>
          </a:p>
        </p:txBody>
      </p:sp>
    </p:spTree>
    <p:extLst>
      <p:ext uri="{BB962C8B-B14F-4D97-AF65-F5344CB8AC3E}">
        <p14:creationId xmlns:p14="http://schemas.microsoft.com/office/powerpoint/2010/main" val="1618391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377</Words>
  <Application>Microsoft Office PowerPoint</Application>
  <PresentationFormat>Widescreen</PresentationFormat>
  <Paragraphs>74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Play</vt:lpstr>
      <vt:lpstr>Office Theme</vt:lpstr>
      <vt:lpstr>Zomato Project</vt:lpstr>
      <vt:lpstr>Project Overview</vt:lpstr>
      <vt:lpstr>Dataset Information  </vt:lpstr>
      <vt:lpstr>Data Cleaning</vt:lpstr>
      <vt:lpstr>Restaurant Cost Analysis</vt:lpstr>
      <vt:lpstr>Cuisine &amp; Timings Analysis</vt:lpstr>
      <vt:lpstr>Customer Ratings &amp; Review Length Analysis</vt:lpstr>
      <vt:lpstr>Conclusion</vt:lpstr>
      <vt:lpstr>Future Scope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Vipul Sonawane</dc:creator>
  <cp:lastModifiedBy>K P</cp:lastModifiedBy>
  <cp:revision>1</cp:revision>
  <dcterms:created xsi:type="dcterms:W3CDTF">2025-03-09T12:09:34Z</dcterms:created>
  <dcterms:modified xsi:type="dcterms:W3CDTF">2026-07-20T07:55:09Z</dcterms:modified>
</cp:coreProperties>
</file>