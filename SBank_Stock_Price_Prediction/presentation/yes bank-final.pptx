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9" r:id="rId6"/>
    <p:sldId id="263" r:id="rId7"/>
    <p:sldId id="264" r:id="rId8"/>
    <p:sldId id="265" r:id="rId9"/>
    <p:sldId id="266" r:id="rId10"/>
    <p:sldId id="267" r:id="rId11"/>
    <p:sldId id="268" r:id="rId12"/>
  </p:sldIdLst>
  <p:sldSz cx="12192000" cy="6858000"/>
  <p:notesSz cx="6858000" cy="9144000"/>
  <p:embeddedFontLst>
    <p:embeddedFont>
      <p:font typeface="Play" panose="020B0604020202020204" charset="0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08227AB4-9627-452B-9AA5-4A416E7EF873}">
          <p14:sldIdLst>
            <p14:sldId id="256"/>
            <p14:sldId id="257"/>
            <p14:sldId id="258"/>
            <p14:sldId id="259"/>
          </p14:sldIdLst>
        </p14:section>
        <p14:section name="Untitled Section" id="{9F251300-7518-42D6-B332-6220D42FE63C}">
          <p14:sldIdLst>
            <p14:sldId id="269"/>
            <p14:sldId id="263"/>
            <p14:sldId id="264"/>
            <p14:sldId id="265"/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6" roundtripDataSignature="AMtx7mhQeubPIA00fRrbw305M7794ubi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96AE9C-75A0-4B85-AAEF-A2AEB250726C}" v="3" dt="2026-07-08T08:14:17.039"/>
    <p1510:client id="{3351EE6F-D632-41FE-B86A-3E8F64D646AC}" v="17" dt="2026-07-08T07:10:31.620"/>
    <p1510:client id="{804738AD-FFCB-4B23-AFE1-481E51C81421}" v="21" dt="2026-07-08T06:42:46.2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/>
            <a:r>
              <a:rPr lang="en-IN" dirty="0"/>
              <a:t>Yes Bank Stock Closing Price Prediction using Machine Learning</a:t>
            </a:r>
            <a:endParaRPr dirty="0"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algn="l"/>
            <a:r>
              <a:rPr lang="en-IN" b="1" dirty="0"/>
              <a:t> Presented by:</a:t>
            </a:r>
            <a:endParaRPr lang="en-IN" dirty="0"/>
          </a:p>
          <a:p>
            <a:pPr algn="l"/>
            <a:r>
              <a:rPr lang="en-IN" dirty="0"/>
              <a:t> Komala p</a:t>
            </a:r>
          </a:p>
          <a:p>
            <a:pPr algn="l"/>
            <a:r>
              <a:rPr lang="en-IN" dirty="0"/>
              <a:t> </a:t>
            </a:r>
            <a:r>
              <a:rPr lang="en-IN" dirty="0" err="1"/>
              <a:t>B.Tech</a:t>
            </a:r>
            <a:r>
              <a:rPr lang="en-IN" dirty="0"/>
              <a:t> – Computer Science &amp; Engineering </a:t>
            </a:r>
          </a:p>
          <a:p>
            <a:pPr algn="l"/>
            <a:r>
              <a:rPr lang="en-IN" dirty="0"/>
              <a:t> </a:t>
            </a:r>
            <a:r>
              <a:rPr lang="en-IN" dirty="0" err="1"/>
              <a:t>LabMentrix</a:t>
            </a:r>
            <a:r>
              <a:rPr lang="en-IN" dirty="0"/>
              <a:t> AI/ML &amp; Data Science Internship 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IN" dirty="0"/>
              <a:t>Problem Statement</a:t>
            </a: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CF1B8A-ACCC-68F3-D8FA-A97B0B7373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Stock price prediction is an important application of Machine Learning.</a:t>
            </a:r>
          </a:p>
          <a:p>
            <a:r>
              <a:rPr lang="en-IN" sz="2400" dirty="0"/>
              <a:t> The objective of this project is to predict the </a:t>
            </a:r>
            <a:r>
              <a:rPr lang="en-IN" sz="2400" b="1" dirty="0"/>
              <a:t>closing stock price</a:t>
            </a:r>
            <a:r>
              <a:rPr lang="en-IN" sz="2400" dirty="0"/>
              <a:t> of Yes Bank. </a:t>
            </a:r>
          </a:p>
          <a:p>
            <a:r>
              <a:rPr lang="en-IN" sz="2400" dirty="0"/>
              <a:t>Historical stock prices are used to train machine learning models.</a:t>
            </a:r>
          </a:p>
          <a:p>
            <a:r>
              <a:rPr lang="en-IN" sz="2400" dirty="0"/>
              <a:t>To develop a machine learning regression model that predicts the closing stock price of Yes Bank using historical stock price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IN" dirty="0"/>
              <a:t>Business Objective</a:t>
            </a: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5F8721-2101-8C61-3AD1-EC72F49943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📈 </a:t>
            </a:r>
            <a:r>
              <a:rPr lang="en-IN" dirty="0" err="1"/>
              <a:t>Analyze</a:t>
            </a:r>
            <a:r>
              <a:rPr lang="en-IN" dirty="0"/>
              <a:t> historical stock prices</a:t>
            </a:r>
          </a:p>
          <a:p>
            <a:r>
              <a:rPr lang="en-IN" dirty="0"/>
              <a:t>🔍 Identify relationships</a:t>
            </a:r>
          </a:p>
          <a:p>
            <a:r>
              <a:rPr lang="en-IN" dirty="0"/>
              <a:t>🤖 Build regression models</a:t>
            </a:r>
          </a:p>
          <a:p>
            <a:r>
              <a:rPr lang="en-IN" dirty="0"/>
              <a:t>📊 Compare model performance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IN" dirty="0"/>
              <a:t>Dataset Information</a:t>
            </a:r>
            <a:endParaRPr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122AE5A-6028-B58D-EF7B-C886B5A767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213" y="1334013"/>
            <a:ext cx="10515600" cy="1574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Dataset: Yes Bank Historical Stock Prices </a:t>
            </a:r>
          </a:p>
          <a:p>
            <a:r>
              <a:rPr lang="en-IN" sz="1400" dirty="0"/>
              <a:t>Total Records: </a:t>
            </a:r>
            <a:r>
              <a:rPr lang="en-IN" sz="1400" b="1" dirty="0"/>
              <a:t>185</a:t>
            </a:r>
            <a:r>
              <a:rPr lang="en-IN" sz="1400" dirty="0"/>
              <a:t> </a:t>
            </a:r>
          </a:p>
          <a:p>
            <a:r>
              <a:rPr lang="en-IN" sz="1400" dirty="0"/>
              <a:t>Total Features: </a:t>
            </a:r>
            <a:r>
              <a:rPr lang="en-IN" sz="1400" b="1" dirty="0"/>
              <a:t>5</a:t>
            </a:r>
            <a:r>
              <a:rPr lang="en-IN" sz="1400" dirty="0"/>
              <a:t> </a:t>
            </a:r>
          </a:p>
          <a:p>
            <a:pPr>
              <a:buNone/>
            </a:pPr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D89DFEA-676F-DB65-2CF2-3C323FE50A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1384585"/>
              </p:ext>
            </p:extLst>
          </p:nvPr>
        </p:nvGraphicFramePr>
        <p:xfrm>
          <a:off x="720213" y="2908763"/>
          <a:ext cx="4313904" cy="1997532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156952">
                  <a:extLst>
                    <a:ext uri="{9D8B030D-6E8A-4147-A177-3AD203B41FA5}">
                      <a16:colId xmlns:a16="http://schemas.microsoft.com/office/drawing/2014/main" val="991582009"/>
                    </a:ext>
                  </a:extLst>
                </a:gridCol>
                <a:gridCol w="2156952">
                  <a:extLst>
                    <a:ext uri="{9D8B030D-6E8A-4147-A177-3AD203B41FA5}">
                      <a16:colId xmlns:a16="http://schemas.microsoft.com/office/drawing/2014/main" val="344243626"/>
                    </a:ext>
                  </a:extLst>
                </a:gridCol>
              </a:tblGrid>
              <a:tr h="3329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6119591"/>
                  </a:ext>
                </a:extLst>
              </a:tr>
              <a:tr h="3329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Trading Date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173496"/>
                  </a:ext>
                </a:extLst>
              </a:tr>
              <a:tr h="3329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Opening Price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1071379"/>
                  </a:ext>
                </a:extLst>
              </a:tr>
              <a:tr h="3329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Highest Price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8845586"/>
                  </a:ext>
                </a:extLst>
              </a:tr>
              <a:tr h="3329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Lowest Price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2939694"/>
                  </a:ext>
                </a:extLst>
              </a:tr>
              <a:tr h="3329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Closing Price (Target)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336958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89C8C-E962-32E6-10CE-1C1F2BAA7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Architecture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BC6A4D-3CD5-46EC-A432-E56E27FF17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114300" indent="0">
              <a:buNone/>
            </a:pPr>
            <a:r>
              <a:rPr lang="en-IN" dirty="0"/>
              <a:t>                       Figure 1: Machine Learning Project Architecture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4753C2-C035-B582-4A10-434845038A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2730" y="1328694"/>
            <a:ext cx="5474959" cy="435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976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8796C-7624-5266-D69C-D60DB1F83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Exploratory Data Analysis (EDA)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B7F298-00A3-967B-E07B-DC89B5AFE8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sz="2400" b="1" dirty="0"/>
              <a:t>Exploratory Data Analysis</a:t>
            </a:r>
          </a:p>
          <a:p>
            <a:r>
              <a:rPr lang="en-IN" sz="2400" dirty="0"/>
              <a:t>Performed the following analyses:</a:t>
            </a:r>
          </a:p>
          <a:p>
            <a:r>
              <a:rPr lang="en-IN" sz="2400" dirty="0"/>
              <a:t>Checked dataset shape and data types </a:t>
            </a:r>
          </a:p>
          <a:p>
            <a:r>
              <a:rPr lang="en-IN" sz="2400" dirty="0"/>
              <a:t>Checked missing values </a:t>
            </a:r>
          </a:p>
          <a:p>
            <a:r>
              <a:rPr lang="en-IN" sz="2400" dirty="0"/>
              <a:t>Generated statistical summary </a:t>
            </a:r>
          </a:p>
          <a:p>
            <a:r>
              <a:rPr lang="en-IN" sz="2400" dirty="0"/>
              <a:t>Histogram </a:t>
            </a:r>
          </a:p>
          <a:p>
            <a:r>
              <a:rPr lang="en-IN" sz="2400" dirty="0"/>
              <a:t>Box Plot </a:t>
            </a:r>
          </a:p>
          <a:p>
            <a:r>
              <a:rPr lang="en-IN" sz="2400" dirty="0"/>
              <a:t>Correlation Heatmap </a:t>
            </a:r>
          </a:p>
          <a:p>
            <a:r>
              <a:rPr lang="en-IN" sz="2400" b="1" dirty="0"/>
              <a:t>Key Observation</a:t>
            </a:r>
          </a:p>
          <a:p>
            <a:r>
              <a:rPr lang="en-IN" sz="2400" dirty="0"/>
              <a:t>No missing values </a:t>
            </a:r>
          </a:p>
          <a:p>
            <a:r>
              <a:rPr lang="en-IN" sz="2400" dirty="0"/>
              <a:t>Strong positive correlation among Open, High, Low, and Close prices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D33D7D-5B0B-EA6A-FA1B-8FD3F1726D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324" y="1904283"/>
            <a:ext cx="4894281" cy="3405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447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23946-67E6-8D74-754C-3B540380B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Machine Learning Workflow</a:t>
            </a:r>
            <a:br>
              <a:rPr lang="en-IN" b="1" dirty="0"/>
            </a:br>
            <a:endParaRPr lang="en-I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ED9DB46-6689-3651-C660-E9135CBA4E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52600" y="1317522"/>
            <a:ext cx="6162368" cy="509541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>
            <a:normAutofit fontScale="55000" lnSpcReduction="20000"/>
          </a:bodyPr>
          <a:lstStyle/>
          <a:p>
            <a:pPr marL="114300" indent="0" algn="ctr">
              <a:buNone/>
            </a:pPr>
            <a:r>
              <a:rPr lang="en-IN" dirty="0"/>
              <a:t>Historical Stock Price Data</a:t>
            </a:r>
          </a:p>
          <a:p>
            <a:pPr marL="114300" indent="0" algn="ctr">
              <a:buNone/>
            </a:pPr>
            <a:r>
              <a:rPr lang="en-IN" dirty="0"/>
              <a:t>        ↓</a:t>
            </a:r>
          </a:p>
          <a:p>
            <a:pPr marL="114300" indent="0" algn="ctr">
              <a:buNone/>
            </a:pPr>
            <a:r>
              <a:rPr lang="en-IN" dirty="0"/>
              <a:t>Data Preprocessing</a:t>
            </a:r>
          </a:p>
          <a:p>
            <a:pPr marL="114300" indent="0" algn="ctr">
              <a:buNone/>
            </a:pPr>
            <a:r>
              <a:rPr lang="en-IN" dirty="0"/>
              <a:t>        ↓</a:t>
            </a:r>
          </a:p>
          <a:p>
            <a:pPr marL="114300" indent="0" algn="ctr">
              <a:buNone/>
            </a:pPr>
            <a:r>
              <a:rPr lang="en-IN" dirty="0"/>
              <a:t>Exploratory Data Analysis</a:t>
            </a:r>
          </a:p>
          <a:p>
            <a:pPr marL="114300" indent="0" algn="ctr">
              <a:buNone/>
            </a:pPr>
            <a:r>
              <a:rPr lang="en-IN" dirty="0"/>
              <a:t>        ↓</a:t>
            </a:r>
          </a:p>
          <a:p>
            <a:pPr marL="114300" indent="0" algn="ctr">
              <a:buNone/>
            </a:pPr>
            <a:r>
              <a:rPr lang="en-IN" dirty="0"/>
              <a:t>Feature Selection</a:t>
            </a:r>
          </a:p>
          <a:p>
            <a:pPr marL="114300" indent="0" algn="ctr">
              <a:buNone/>
            </a:pPr>
            <a:r>
              <a:rPr lang="en-IN" dirty="0"/>
              <a:t>        ↓</a:t>
            </a:r>
          </a:p>
          <a:p>
            <a:pPr marL="114300" indent="0" algn="ctr">
              <a:buNone/>
            </a:pPr>
            <a:r>
              <a:rPr lang="en-IN" dirty="0"/>
              <a:t>Train-Test Split (80:20)</a:t>
            </a:r>
          </a:p>
          <a:p>
            <a:pPr marL="114300" indent="0" algn="ctr">
              <a:buNone/>
            </a:pPr>
            <a:r>
              <a:rPr lang="en-IN" dirty="0"/>
              <a:t>        ↓</a:t>
            </a:r>
          </a:p>
          <a:p>
            <a:pPr marL="114300" indent="0" algn="ctr">
              <a:buNone/>
            </a:pPr>
            <a:r>
              <a:rPr lang="en-IN" dirty="0"/>
              <a:t>Machine Learning Models</a:t>
            </a:r>
          </a:p>
          <a:p>
            <a:pPr marL="114300" indent="0" algn="ctr">
              <a:buNone/>
            </a:pPr>
            <a:r>
              <a:rPr lang="en-IN" dirty="0"/>
              <a:t>        ↓</a:t>
            </a:r>
          </a:p>
          <a:p>
            <a:pPr marL="114300" indent="0" algn="ctr">
              <a:buNone/>
            </a:pPr>
            <a:r>
              <a:rPr lang="en-IN" dirty="0"/>
              <a:t>Model Evaluation</a:t>
            </a:r>
          </a:p>
          <a:p>
            <a:pPr marL="114300" indent="0" algn="ctr">
              <a:buNone/>
            </a:pPr>
            <a:r>
              <a:rPr lang="en-IN" dirty="0"/>
              <a:t>        ↓</a:t>
            </a:r>
          </a:p>
          <a:p>
            <a:pPr marL="114300" indent="0" algn="ctr">
              <a:buNone/>
            </a:pPr>
            <a:r>
              <a:rPr lang="en-IN" dirty="0"/>
              <a:t>Best Model Selection</a:t>
            </a:r>
          </a:p>
          <a:p>
            <a:pPr marL="114300" indent="0" algn="ctr">
              <a:buNone/>
            </a:pPr>
            <a:r>
              <a:rPr lang="en-IN" dirty="0"/>
              <a:t>        ↓</a:t>
            </a:r>
          </a:p>
          <a:p>
            <a:pPr marL="114300" indent="0" algn="ctr">
              <a:buNone/>
            </a:pPr>
            <a:r>
              <a:rPr lang="en-IN" dirty="0"/>
              <a:t>Predict Closing Stock Price</a:t>
            </a:r>
          </a:p>
        </p:txBody>
      </p:sp>
    </p:spTree>
    <p:extLst>
      <p:ext uri="{BB962C8B-B14F-4D97-AF65-F5344CB8AC3E}">
        <p14:creationId xmlns:p14="http://schemas.microsoft.com/office/powerpoint/2010/main" val="40022694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4798C-C246-D5F5-5622-7FB1F6A25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Models Used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C5B923-BA0E-2928-C5B0-F40B2B76BE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7252" y="985837"/>
            <a:ext cx="10606548" cy="5191126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Linear Regression</a:t>
            </a:r>
          </a:p>
          <a:p>
            <a:r>
              <a:rPr lang="en-IN" dirty="0"/>
              <a:t>✔ Simple model</a:t>
            </a:r>
          </a:p>
          <a:p>
            <a:r>
              <a:rPr lang="en-IN" dirty="0"/>
              <a:t>✔ Linear relationship</a:t>
            </a:r>
            <a:br>
              <a:rPr lang="en-IN" dirty="0"/>
            </a:br>
            <a:endParaRPr lang="en-IN" dirty="0"/>
          </a:p>
          <a:p>
            <a:r>
              <a:rPr lang="en-IN" b="1" dirty="0"/>
              <a:t>Decision Tree</a:t>
            </a:r>
          </a:p>
          <a:p>
            <a:r>
              <a:rPr lang="en-IN" dirty="0"/>
              <a:t>✔ Decision rules</a:t>
            </a:r>
          </a:p>
          <a:p>
            <a:r>
              <a:rPr lang="en-IN" dirty="0"/>
              <a:t>✔ Non-linear data</a:t>
            </a:r>
          </a:p>
          <a:p>
            <a:pPr marL="114300" indent="0">
              <a:buNone/>
            </a:pPr>
            <a:endParaRPr lang="en-IN" dirty="0"/>
          </a:p>
          <a:p>
            <a:r>
              <a:rPr lang="en-IN" b="1" dirty="0"/>
              <a:t>Random Forest</a:t>
            </a:r>
          </a:p>
          <a:p>
            <a:r>
              <a:rPr lang="en-IN" dirty="0"/>
              <a:t>✔ Multiple trees</a:t>
            </a:r>
          </a:p>
          <a:p>
            <a:r>
              <a:rPr lang="en-IN" dirty="0"/>
              <a:t>✔ High accuracy</a:t>
            </a:r>
          </a:p>
          <a:p>
            <a:r>
              <a:rPr lang="en-IN" dirty="0"/>
              <a:t>✔ Best model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E569AF-8254-CA4C-D93D-C967332C40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3754" y="1128238"/>
            <a:ext cx="6762320" cy="4601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6696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6CF04-4066-16BB-3EBC-6C1BCEDB0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Model Evaluation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4DFB1B-88A8-0411-9464-969989F928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70039"/>
            <a:ext cx="10515600" cy="5006924"/>
          </a:xfrm>
        </p:spPr>
        <p:txBody>
          <a:bodyPr>
            <a:normAutofit fontScale="55000" lnSpcReduction="20000"/>
          </a:bodyPr>
          <a:lstStyle/>
          <a:p>
            <a:r>
              <a:rPr lang="en-IN" b="1" dirty="0"/>
              <a:t>Evaluation Metrics</a:t>
            </a:r>
          </a:p>
          <a:p>
            <a:r>
              <a:rPr lang="en-IN" dirty="0"/>
              <a:t>Used the following metrics:</a:t>
            </a:r>
          </a:p>
          <a:p>
            <a:r>
              <a:rPr lang="en-IN" dirty="0"/>
              <a:t>Mean Absolute Error (MAE) </a:t>
            </a:r>
          </a:p>
          <a:p>
            <a:r>
              <a:rPr lang="en-IN" dirty="0"/>
              <a:t>Mean Squared Error (MSE) </a:t>
            </a:r>
          </a:p>
          <a:p>
            <a:r>
              <a:rPr lang="en-IN" dirty="0"/>
              <a:t>Root Mean Squared Error (RMSE) </a:t>
            </a:r>
          </a:p>
          <a:p>
            <a:r>
              <a:rPr lang="en-IN" dirty="0"/>
              <a:t>R² Score </a:t>
            </a:r>
          </a:p>
          <a:p>
            <a:r>
              <a:rPr lang="en-IN" b="1" dirty="0"/>
              <a:t>Best Model</a:t>
            </a:r>
          </a:p>
          <a:p>
            <a:r>
              <a:rPr lang="en-IN" b="1" dirty="0"/>
              <a:t>Random Forest Regressor</a:t>
            </a:r>
            <a:endParaRPr lang="en-IN" dirty="0"/>
          </a:p>
          <a:p>
            <a:r>
              <a:rPr lang="en-IN" dirty="0"/>
              <a:t>Reason:</a:t>
            </a:r>
          </a:p>
          <a:p>
            <a:r>
              <a:rPr lang="en-IN" dirty="0"/>
              <a:t>Lowest MAE </a:t>
            </a:r>
          </a:p>
          <a:p>
            <a:r>
              <a:rPr lang="en-IN" dirty="0"/>
              <a:t>Lowest MSE </a:t>
            </a:r>
          </a:p>
          <a:p>
            <a:r>
              <a:rPr lang="en-IN" dirty="0"/>
              <a:t>Lowest RMSE </a:t>
            </a:r>
          </a:p>
          <a:p>
            <a:r>
              <a:rPr lang="en-IN" dirty="0"/>
              <a:t>Highest R² Score</a:t>
            </a:r>
          </a:p>
          <a:p>
            <a:r>
              <a:rPr lang="en-IN" dirty="0"/>
              <a:t>Best Model</a:t>
            </a:r>
          </a:p>
          <a:p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r>
              <a:rPr lang="en-IN" dirty="0"/>
              <a:t>                                                                                                                           Random Forest Regressor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B20905-9867-A561-272C-14192E63E3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3484" y="1170040"/>
            <a:ext cx="5407742" cy="4494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1337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2F768-DA73-B969-8299-C7422C746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 &amp; Conclusion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46BE348-C201-F641-3B65-910B327F9E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3981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Results</a:t>
            </a:r>
          </a:p>
          <a:p>
            <a:r>
              <a:rPr lang="en-IN" sz="2400" dirty="0"/>
              <a:t>Successfully predicted Yes Bank closing stock prices. </a:t>
            </a:r>
          </a:p>
          <a:p>
            <a:r>
              <a:rPr lang="en-IN" sz="2400" dirty="0"/>
              <a:t>Compared three regression algorithms. </a:t>
            </a:r>
          </a:p>
          <a:p>
            <a:r>
              <a:rPr lang="en-IN" sz="2400" dirty="0"/>
              <a:t>Random Forest Regressor achieved the highest prediction accuracy. </a:t>
            </a:r>
          </a:p>
          <a:p>
            <a:r>
              <a:rPr lang="en-IN" sz="2400" b="1" dirty="0"/>
              <a:t>Conclusion</a:t>
            </a:r>
          </a:p>
          <a:p>
            <a:r>
              <a:rPr lang="en-IN" sz="2400" dirty="0"/>
              <a:t>Machine Learning can effectively predict stock closing prices using historical stock market data.</a:t>
            </a:r>
          </a:p>
          <a:p>
            <a:r>
              <a:rPr lang="en-IN" sz="2400" dirty="0"/>
              <a:t>The Random Forest Regressor achieved the highest R² Score and the lowest prediction error, making it the final selected model.</a:t>
            </a:r>
          </a:p>
        </p:txBody>
      </p:sp>
    </p:spTree>
    <p:extLst>
      <p:ext uri="{BB962C8B-B14F-4D97-AF65-F5344CB8AC3E}">
        <p14:creationId xmlns:p14="http://schemas.microsoft.com/office/powerpoint/2010/main" val="36596576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7C37E1-3330-E7BE-934A-65C465A668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 algn="ctr">
              <a:buNone/>
            </a:pPr>
            <a:r>
              <a:rPr lang="en-IN" sz="54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59414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408</Words>
  <Application>Microsoft Office PowerPoint</Application>
  <PresentationFormat>Widescreen</PresentationFormat>
  <Paragraphs>112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Play</vt:lpstr>
      <vt:lpstr>Arial</vt:lpstr>
      <vt:lpstr>Office Theme</vt:lpstr>
      <vt:lpstr>Yes Bank Stock Closing Price Prediction using Machine Learning</vt:lpstr>
      <vt:lpstr>Problem Statement</vt:lpstr>
      <vt:lpstr>Business Objective</vt:lpstr>
      <vt:lpstr>Dataset Information</vt:lpstr>
      <vt:lpstr>Project Architecture </vt:lpstr>
      <vt:lpstr>Exploratory Data Analysis (EDA)</vt:lpstr>
      <vt:lpstr>Machine Learning Workflow </vt:lpstr>
      <vt:lpstr>Models Used </vt:lpstr>
      <vt:lpstr>Model Evaluation </vt:lpstr>
      <vt:lpstr>Results &amp; 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Vipul Sonawane</dc:creator>
  <cp:lastModifiedBy>K P</cp:lastModifiedBy>
  <cp:revision>3</cp:revision>
  <dcterms:created xsi:type="dcterms:W3CDTF">2025-03-02T12:40:02Z</dcterms:created>
  <dcterms:modified xsi:type="dcterms:W3CDTF">2026-07-08T08:15:17Z</dcterms:modified>
</cp:coreProperties>
</file>